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378" y="-26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636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hyperlink" Target="https://discord.gg/X47fDBE6x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github.com/ssbajjur-ncstate/SE-CSC-510-Group-9.git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70432"/>
          </a:xfrm>
          <a:prstGeom prst="rect">
            <a:avLst/>
          </a:prstGeom>
          <a:solidFill>
            <a:srgbClr val="0C1633"/>
          </a:solidFill>
          <a:ln w="12700">
            <a:solidFill>
              <a:srgbClr val="0C16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18288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600" b="1" kern="0" spc="4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</a:t>
            </a:r>
            <a:r>
              <a:rPr lang="en-US" sz="3600" b="1" kern="0" spc="40" dirty="0">
                <a:solidFill>
                  <a:srgbClr val="FFC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BUDGET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11480" y="6309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F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PR earns its test budget</a:t>
            </a:r>
            <a:r>
              <a:rPr lang="en-US" sz="1270" b="1" dirty="0">
                <a:solidFill>
                  <a:srgbClr val="9F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7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914400"/>
            <a:ext cx="4480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9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Risk-calibrated test selection for long CI suites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3684" y="227076"/>
            <a:ext cx="1353312" cy="402336"/>
          </a:xfrm>
          <a:prstGeom prst="roundRect">
            <a:avLst>
              <a:gd name="adj" fmla="val 18182"/>
            </a:avLst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39968" y="239267"/>
            <a:ext cx="1353312" cy="3992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09744" y="658368"/>
            <a:ext cx="2551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E8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Vedantt</a:t>
            </a:r>
            <a:r>
              <a:rPr lang="en-US" sz="1000" dirty="0">
                <a:solidFill>
                  <a:srgbClr val="E8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Koul  •  Saanvi Bajjuri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E8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Namrata Joshi  •  Sakshi Shelar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335024"/>
            <a:ext cx="7132320" cy="2048256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8890">
            <a:solidFill>
              <a:srgbClr val="D7DCE4"/>
            </a:solidFill>
            <a:prstDash val="solid"/>
          </a:ln>
          <a:effectLst>
            <a:outerShdw blurRad="19050" dist="50800" dir="2700000" algn="bl" rotWithShape="0">
              <a:srgbClr val="C8CED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" y="1481328"/>
            <a:ext cx="45720" cy="182880"/>
          </a:xfrm>
          <a:prstGeom prst="rect">
            <a:avLst/>
          </a:prstGeom>
          <a:solidFill>
            <a:srgbClr val="00A9C7"/>
          </a:solidFill>
          <a:ln w="12700">
            <a:solidFill>
              <a:srgbClr val="00A9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" y="146304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42432" y="145389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502920" y="1746504"/>
            <a:ext cx="713232" cy="283464"/>
          </a:xfrm>
          <a:prstGeom prst="roundRect">
            <a:avLst>
              <a:gd name="adj" fmla="val 22581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17739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5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084832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CI suites force teams to choose between 20+ minute pull requests and weak smoke subsets. E2E tests are often moved to nightly runs, leaving PRs under-tested.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24328" y="1755648"/>
            <a:ext cx="0" cy="1078992"/>
          </a:xfrm>
          <a:prstGeom prst="line">
            <a:avLst/>
          </a:prstGeom>
          <a:noFill/>
          <a:ln w="12700">
            <a:solidFill>
              <a:srgbClr val="DCE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1746504"/>
            <a:ext cx="713232" cy="283464"/>
          </a:xfrm>
          <a:prstGeom prst="roundRect">
            <a:avLst>
              <a:gd name="adj" fmla="val 22581"/>
            </a:avLst>
          </a:prstGeom>
          <a:solidFill>
            <a:srgbClr val="EAF9F3"/>
          </a:solidFill>
          <a:ln w="12700">
            <a:solidFill>
              <a:srgbClr val="EAF9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88920" y="17739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2084832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TestBudget is a GitHub Action + CLI that uses a repository’s own CI history to decide which existing tests run on each PR, in what order, and for how long</a:t>
            </a:r>
            <a:r>
              <a:rPr lang="en-US" sz="68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685" dirty="0"/>
          </a:p>
        </p:txBody>
      </p:sp>
      <p:sp>
        <p:nvSpPr>
          <p:cNvPr id="20" name="Shape 18"/>
          <p:cNvSpPr/>
          <p:nvPr/>
        </p:nvSpPr>
        <p:spPr>
          <a:xfrm>
            <a:off x="4919472" y="1755648"/>
            <a:ext cx="0" cy="1078992"/>
          </a:xfrm>
          <a:prstGeom prst="line">
            <a:avLst/>
          </a:prstGeom>
          <a:noFill/>
          <a:ln w="12700">
            <a:solidFill>
              <a:srgbClr val="DCE3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4064" y="1746504"/>
            <a:ext cx="713232" cy="283464"/>
          </a:xfrm>
          <a:prstGeom prst="roundRect">
            <a:avLst>
              <a:gd name="adj" fmla="val 22581"/>
            </a:avLst>
          </a:prstGeom>
          <a:solidFill>
            <a:srgbClr val="FFF4E7"/>
          </a:solidFill>
          <a:ln w="12700">
            <a:solidFill>
              <a:srgbClr val="FFF4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84064" y="17739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084064" y="2084832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get faster feedback, safer merges, and reproducible decisions. TestBudget explains selections, tracks skip debt, and needs no ML, coverage instrumentation, or hosted service.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" y="3097276"/>
            <a:ext cx="6766560" cy="246888"/>
          </a:xfrm>
          <a:prstGeom prst="roundRect">
            <a:avLst>
              <a:gd name="adj" fmla="val 1851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2356" y="3154680"/>
            <a:ext cx="6446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5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2 TARGET  •  ≥85% failing runs caught  •  ≤30% average full-suite time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511296"/>
            <a:ext cx="3986784" cy="1819656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8890">
            <a:solidFill>
              <a:srgbClr val="D7DCE4"/>
            </a:solidFill>
            <a:prstDash val="solid"/>
          </a:ln>
          <a:effectLst>
            <a:outerShdw blurRad="19050" dist="50800" dir="2700000" algn="bl" rotWithShape="0">
              <a:srgbClr val="C8CEDA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" y="3657600"/>
            <a:ext cx="45720" cy="182880"/>
          </a:xfrm>
          <a:prstGeom prst="rect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6072" y="363931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TESTBUDGET DECIDES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" y="4023360"/>
            <a:ext cx="621792" cy="960120"/>
          </a:xfrm>
          <a:prstGeom prst="roundRect">
            <a:avLst>
              <a:gd name="adj" fmla="val 10294"/>
            </a:avLst>
          </a:prstGeom>
          <a:solidFill>
            <a:srgbClr val="EEF2F7"/>
          </a:solidFill>
          <a:ln w="8890">
            <a:solidFill>
              <a:srgbClr val="D7DC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096512"/>
            <a:ext cx="219456" cy="219456"/>
          </a:xfrm>
          <a:prstGeom prst="ellipse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" y="4101084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20" dirty="0"/>
          </a:p>
        </p:txBody>
      </p:sp>
      <p:sp>
        <p:nvSpPr>
          <p:cNvPr id="32" name="Text 30"/>
          <p:cNvSpPr txBox="1"/>
          <p:nvPr/>
        </p:nvSpPr>
        <p:spPr>
          <a:xfrm>
            <a:off x="557784" y="435254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4526280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changed files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61288" y="4270248"/>
            <a:ext cx="109728" cy="182880"/>
          </a:xfrm>
          <a:prstGeom prst="chevron">
            <a:avLst/>
          </a:prstGeom>
          <a:solidFill>
            <a:srgbClr val="A8B1C2"/>
          </a:solidFill>
          <a:ln w="12700">
            <a:solidFill>
              <a:srgbClr val="A8B1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2728" y="4023360"/>
            <a:ext cx="621792" cy="960120"/>
          </a:xfrm>
          <a:prstGeom prst="roundRect">
            <a:avLst>
              <a:gd name="adj" fmla="val 10294"/>
            </a:avLst>
          </a:prstGeom>
          <a:solidFill>
            <a:srgbClr val="EEF2F7"/>
          </a:solidFill>
          <a:ln w="8890">
            <a:solidFill>
              <a:srgbClr val="D7DC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53896" y="4096512"/>
            <a:ext cx="219456" cy="219456"/>
          </a:xfrm>
          <a:prstGeom prst="ellipse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453896" y="4101084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20" dirty="0"/>
          </a:p>
        </p:txBody>
      </p:sp>
      <p:sp>
        <p:nvSpPr>
          <p:cNvPr id="38" name="Text 36"/>
          <p:cNvSpPr txBox="1"/>
          <p:nvPr/>
        </p:nvSpPr>
        <p:spPr>
          <a:xfrm>
            <a:off x="1289304" y="435254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298448" y="4526280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CI failure history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892808" y="4270248"/>
            <a:ext cx="109728" cy="182880"/>
          </a:xfrm>
          <a:prstGeom prst="chevron">
            <a:avLst/>
          </a:prstGeom>
          <a:solidFill>
            <a:srgbClr val="A8B1C2"/>
          </a:solidFill>
          <a:ln w="12700">
            <a:solidFill>
              <a:srgbClr val="A8B1C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84248" y="4023360"/>
            <a:ext cx="621792" cy="960120"/>
          </a:xfrm>
          <a:prstGeom prst="roundRect">
            <a:avLst>
              <a:gd name="adj" fmla="val 10294"/>
            </a:avLst>
          </a:prstGeom>
          <a:solidFill>
            <a:srgbClr val="EEF2F7"/>
          </a:solidFill>
          <a:ln w="8890">
            <a:solidFill>
              <a:srgbClr val="D7DC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85416" y="4096512"/>
            <a:ext cx="219456" cy="219456"/>
          </a:xfrm>
          <a:prstGeom prst="ellipse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185416" y="4101084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20" dirty="0"/>
          </a:p>
        </p:txBody>
      </p:sp>
      <p:sp>
        <p:nvSpPr>
          <p:cNvPr id="44" name="Text 42"/>
          <p:cNvSpPr txBox="1"/>
          <p:nvPr/>
        </p:nvSpPr>
        <p:spPr>
          <a:xfrm>
            <a:off x="2020824" y="435254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2029968" y="4526280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to tests via routes + co-failures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624328" y="4270248"/>
            <a:ext cx="109728" cy="182880"/>
          </a:xfrm>
          <a:prstGeom prst="chevron">
            <a:avLst/>
          </a:prstGeom>
          <a:solidFill>
            <a:srgbClr val="A8B1C2"/>
          </a:solidFill>
          <a:ln w="12700">
            <a:solidFill>
              <a:srgbClr val="A8B1C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15768" y="4023360"/>
            <a:ext cx="621792" cy="960120"/>
          </a:xfrm>
          <a:prstGeom prst="roundRect">
            <a:avLst>
              <a:gd name="adj" fmla="val 10294"/>
            </a:avLst>
          </a:prstGeom>
          <a:solidFill>
            <a:srgbClr val="EEF2F7"/>
          </a:solidFill>
          <a:ln w="8890">
            <a:solidFill>
              <a:srgbClr val="D7DC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16936" y="4096512"/>
            <a:ext cx="219456" cy="219456"/>
          </a:xfrm>
          <a:prstGeom prst="ellipse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916936" y="4101084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20" dirty="0"/>
          </a:p>
        </p:txBody>
      </p:sp>
      <p:sp>
        <p:nvSpPr>
          <p:cNvPr id="50" name="Text 48"/>
          <p:cNvSpPr txBox="1"/>
          <p:nvPr/>
        </p:nvSpPr>
        <p:spPr>
          <a:xfrm>
            <a:off x="2752344" y="435254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2761488" y="4526280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by uncovered risk / second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355848" y="4270248"/>
            <a:ext cx="109728" cy="182880"/>
          </a:xfrm>
          <a:prstGeom prst="chevron">
            <a:avLst/>
          </a:prstGeom>
          <a:solidFill>
            <a:srgbClr val="A8B1C2"/>
          </a:solidFill>
          <a:ln w="12700">
            <a:solidFill>
              <a:srgbClr val="A8B1C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47288" y="4023360"/>
            <a:ext cx="621792" cy="960120"/>
          </a:xfrm>
          <a:prstGeom prst="roundRect">
            <a:avLst>
              <a:gd name="adj" fmla="val 10294"/>
            </a:avLst>
          </a:prstGeom>
          <a:solidFill>
            <a:srgbClr val="FFF4E7"/>
          </a:solidFill>
          <a:ln w="8890">
            <a:solidFill>
              <a:srgbClr val="FFC77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48456" y="4096512"/>
            <a:ext cx="219456" cy="219456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648456" y="4101084"/>
            <a:ext cx="219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20" dirty="0"/>
          </a:p>
        </p:txBody>
      </p:sp>
      <p:sp>
        <p:nvSpPr>
          <p:cNvPr id="56" name="Text 54"/>
          <p:cNvSpPr txBox="1"/>
          <p:nvPr/>
        </p:nvSpPr>
        <p:spPr>
          <a:xfrm>
            <a:off x="3483864" y="435254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3493008" y="4526280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tests within time budget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453128" y="3511296"/>
            <a:ext cx="2999232" cy="1819656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8890">
            <a:solidFill>
              <a:srgbClr val="D7DCE4"/>
            </a:solidFill>
            <a:prstDash val="solid"/>
          </a:ln>
          <a:effectLst>
            <a:outerShdw blurRad="19050" dist="50800" dir="2700000" algn="bl" rotWithShape="0">
              <a:srgbClr val="C8CEDA">
                <a:alpha val="14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17720" y="3657600"/>
            <a:ext cx="45720" cy="18288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709160" y="363931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PR CHECK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17720" y="3986784"/>
            <a:ext cx="2660904" cy="1161288"/>
          </a:xfrm>
          <a:prstGeom prst="roundRect">
            <a:avLst>
              <a:gd name="adj" fmla="val 472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36592" y="4069080"/>
            <a:ext cx="192024" cy="1920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736592" y="4059936"/>
            <a:ext cx="192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4992624" y="404164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TestBudget  /  PR #142</a:t>
            </a:r>
            <a:endParaRPr lang="en-US" sz="650" dirty="0"/>
          </a:p>
        </p:txBody>
      </p:sp>
      <p:sp>
        <p:nvSpPr>
          <p:cNvPr id="65" name="Text 63"/>
          <p:cNvSpPr txBox="1"/>
          <p:nvPr/>
        </p:nvSpPr>
        <p:spPr>
          <a:xfrm>
            <a:off x="4754880" y="4315968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level:  HIGH</a:t>
            </a:r>
            <a:endParaRPr lang="en-US" sz="560" dirty="0"/>
          </a:p>
        </p:txBody>
      </p:sp>
      <p:sp>
        <p:nvSpPr>
          <p:cNvPr id="66" name="Text 64"/>
          <p:cNvSpPr txBox="1"/>
          <p:nvPr/>
        </p:nvSpPr>
        <p:spPr>
          <a:xfrm>
            <a:off x="4754880" y="4489704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Budget:      12m</a:t>
            </a:r>
            <a:endParaRPr lang="en-US" sz="560" dirty="0"/>
          </a:p>
        </p:txBody>
      </p:sp>
      <p:sp>
        <p:nvSpPr>
          <p:cNvPr id="67" name="Text 65"/>
          <p:cNvSpPr txBox="1"/>
          <p:nvPr/>
        </p:nvSpPr>
        <p:spPr>
          <a:xfrm>
            <a:off x="4754880" y="466344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Selected:    14 / 52 tests</a:t>
            </a:r>
            <a:endParaRPr lang="en-US" sz="560" dirty="0"/>
          </a:p>
        </p:txBody>
      </p:sp>
      <p:sp>
        <p:nvSpPr>
          <p:cNvPr id="68" name="Text 66"/>
          <p:cNvSpPr txBox="1"/>
          <p:nvPr/>
        </p:nvSpPr>
        <p:spPr>
          <a:xfrm>
            <a:off x="4754880" y="483717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Skipped:     profile.spec.ts  (debt 4/7)</a:t>
            </a:r>
            <a:endParaRPr lang="en-US" sz="500" dirty="0"/>
          </a:p>
        </p:txBody>
      </p:sp>
      <p:sp>
        <p:nvSpPr>
          <p:cNvPr id="69" name="Shape 67"/>
          <p:cNvSpPr/>
          <p:nvPr/>
        </p:nvSpPr>
        <p:spPr>
          <a:xfrm>
            <a:off x="4754880" y="5001768"/>
            <a:ext cx="2249424" cy="0"/>
          </a:xfrm>
          <a:prstGeom prst="line">
            <a:avLst/>
          </a:prstGeom>
          <a:noFill/>
          <a:ln w="10160">
            <a:solidFill>
              <a:srgbClr val="4B5563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754880" y="5010912"/>
            <a:ext cx="2267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9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/testbudget full   # reviewer override</a:t>
            </a:r>
            <a:endParaRPr lang="en-US" sz="490" dirty="0"/>
          </a:p>
        </p:txBody>
      </p:sp>
      <p:sp>
        <p:nvSpPr>
          <p:cNvPr id="71" name="Shape 69"/>
          <p:cNvSpPr/>
          <p:nvPr/>
        </p:nvSpPr>
        <p:spPr>
          <a:xfrm>
            <a:off x="320040" y="5504688"/>
            <a:ext cx="31729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8890">
            <a:solidFill>
              <a:srgbClr val="D7DCE4"/>
            </a:solidFill>
            <a:prstDash val="solid"/>
          </a:ln>
          <a:effectLst>
            <a:outerShdw blurRad="19050" dist="50800" dir="2700000" algn="bl" rotWithShape="0">
              <a:srgbClr val="C8CEDA">
                <a:alpha val="14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84632" y="5650992"/>
            <a:ext cx="45720" cy="1828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76072" y="56327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CLI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02920" y="5925312"/>
            <a:ext cx="2798064" cy="786384"/>
          </a:xfrm>
          <a:prstGeom prst="roundRect">
            <a:avLst>
              <a:gd name="adj" fmla="val 6977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40080" y="5998464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CFF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testbudget plan --base main</a:t>
            </a:r>
            <a:endParaRPr lang="en-US" sz="550" dirty="0"/>
          </a:p>
        </p:txBody>
      </p:sp>
      <p:sp>
        <p:nvSpPr>
          <p:cNvPr id="76" name="Text 74"/>
          <p:cNvSpPr txBox="1"/>
          <p:nvPr/>
        </p:nvSpPr>
        <p:spPr>
          <a:xfrm>
            <a:off x="640080" y="6181344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5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Risk: MEDIUM   Budget: 08:40</a:t>
            </a:r>
            <a:endParaRPr lang="en-US" sz="525" dirty="0"/>
          </a:p>
        </p:txBody>
      </p:sp>
      <p:sp>
        <p:nvSpPr>
          <p:cNvPr id="77" name="Text 75"/>
          <p:cNvSpPr txBox="1"/>
          <p:nvPr/>
        </p:nvSpPr>
        <p:spPr>
          <a:xfrm>
            <a:off x="640080" y="6364224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5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Selected: 14 / 52 tests</a:t>
            </a:r>
            <a:endParaRPr lang="en-US" sz="525" dirty="0"/>
          </a:p>
        </p:txBody>
      </p:sp>
      <p:sp>
        <p:nvSpPr>
          <p:cNvPr id="78" name="Text 76"/>
          <p:cNvSpPr txBox="1"/>
          <p:nvPr/>
        </p:nvSpPr>
        <p:spPr>
          <a:xfrm>
            <a:off x="640080" y="6547104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5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Estimated time: 29% of full suite</a:t>
            </a:r>
            <a:endParaRPr lang="en-US" sz="525" dirty="0"/>
          </a:p>
        </p:txBody>
      </p:sp>
      <p:sp>
        <p:nvSpPr>
          <p:cNvPr id="79" name="Shape 77"/>
          <p:cNvSpPr/>
          <p:nvPr/>
        </p:nvSpPr>
        <p:spPr>
          <a:xfrm>
            <a:off x="3639312" y="5504688"/>
            <a:ext cx="190195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8890">
            <a:solidFill>
              <a:srgbClr val="D7DCE4"/>
            </a:solidFill>
            <a:prstDash val="solid"/>
          </a:ln>
          <a:effectLst>
            <a:outerShdw blurRad="19050" dist="50800" dir="2700000" algn="bl" rotWithShape="0">
              <a:srgbClr val="C8CEDA">
                <a:alpha val="14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3803904" y="5650992"/>
            <a:ext cx="45720" cy="1828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895344" y="563270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840480" y="5975604"/>
            <a:ext cx="64008" cy="64008"/>
          </a:xfrm>
          <a:prstGeom prst="ellipse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968496" y="5934456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840480" y="6131052"/>
            <a:ext cx="64008" cy="64008"/>
          </a:xfrm>
          <a:prstGeom prst="ellipse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968496" y="6089904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840480" y="6286500"/>
            <a:ext cx="64008" cy="64008"/>
          </a:xfrm>
          <a:prstGeom prst="ellipse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3968496" y="6245352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/ Test owners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840480" y="6441948"/>
            <a:ext cx="64008" cy="6400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3968496" y="6400800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/ On-call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840480" y="6597396"/>
            <a:ext cx="64008" cy="6400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3968496" y="6556248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/ Compliance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687568" y="5504688"/>
            <a:ext cx="17647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8890">
            <a:solidFill>
              <a:srgbClr val="D7DCE4"/>
            </a:solidFill>
            <a:prstDash val="solid"/>
          </a:ln>
          <a:effectLst>
            <a:outerShdw blurRad="19050" dist="50800" dir="2700000" algn="bl" rotWithShape="0">
              <a:srgbClr val="C8CEDA">
                <a:alpha val="14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5852160" y="5650992"/>
            <a:ext cx="45720" cy="182880"/>
          </a:xfrm>
          <a:prstGeom prst="rect">
            <a:avLst/>
          </a:prstGeom>
          <a:solidFill>
            <a:srgbClr val="00A9C7"/>
          </a:solidFill>
          <a:ln w="12700">
            <a:solidFill>
              <a:srgbClr val="00A9C7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943600" y="5632704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5852160" y="5925312"/>
            <a:ext cx="722376" cy="301752"/>
          </a:xfrm>
          <a:prstGeom prst="roundRect">
            <a:avLst>
              <a:gd name="adj" fmla="val 21212"/>
            </a:avLst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pic>
        <p:nvPicPr>
          <p:cNvPr id="9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5312" y="5984748"/>
            <a:ext cx="164592" cy="164592"/>
          </a:xfrm>
          <a:prstGeom prst="rect">
            <a:avLst/>
          </a:prstGeom>
        </p:spPr>
      </p:pic>
      <p:sp>
        <p:nvSpPr>
          <p:cNvPr id="97" name="Text 94"/>
          <p:cNvSpPr txBox="1"/>
          <p:nvPr/>
        </p:nvSpPr>
        <p:spPr>
          <a:xfrm>
            <a:off x="6135624" y="5943600"/>
            <a:ext cx="393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630" dirty="0"/>
          </a:p>
        </p:txBody>
      </p:sp>
      <p:sp>
        <p:nvSpPr>
          <p:cNvPr id="98" name="Shape 95"/>
          <p:cNvSpPr/>
          <p:nvPr/>
        </p:nvSpPr>
        <p:spPr>
          <a:xfrm>
            <a:off x="6629400" y="5925312"/>
            <a:ext cx="640080" cy="301752"/>
          </a:xfrm>
          <a:prstGeom prst="roundRect">
            <a:avLst>
              <a:gd name="adj" fmla="val 21212"/>
            </a:avLst>
          </a:prstGeom>
          <a:solidFill>
            <a:srgbClr val="53606D"/>
          </a:solidFill>
          <a:ln w="12700">
            <a:solidFill>
              <a:srgbClr val="53606D"/>
            </a:solidFill>
            <a:prstDash val="solid"/>
          </a:ln>
        </p:spPr>
      </p:sp>
      <p:pic>
        <p:nvPicPr>
          <p:cNvPr id="9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2552" y="5984748"/>
            <a:ext cx="164592" cy="164592"/>
          </a:xfrm>
          <a:prstGeom prst="rect">
            <a:avLst/>
          </a:prstGeom>
        </p:spPr>
      </p:pic>
      <p:sp>
        <p:nvSpPr>
          <p:cNvPr id="100" name="Text 96"/>
          <p:cNvSpPr txBox="1"/>
          <p:nvPr/>
        </p:nvSpPr>
        <p:spPr>
          <a:xfrm>
            <a:off x="6912864" y="5943600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630" dirty="0"/>
          </a:p>
        </p:txBody>
      </p:sp>
      <p:sp>
        <p:nvSpPr>
          <p:cNvPr id="101" name="Shape 97"/>
          <p:cNvSpPr/>
          <p:nvPr/>
        </p:nvSpPr>
        <p:spPr>
          <a:xfrm>
            <a:off x="5852160" y="6281928"/>
            <a:ext cx="722376" cy="301752"/>
          </a:xfrm>
          <a:prstGeom prst="roundRect">
            <a:avLst>
              <a:gd name="adj" fmla="val 21212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pic>
        <p:nvPicPr>
          <p:cNvPr id="10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5312" y="6341364"/>
            <a:ext cx="164592" cy="164592"/>
          </a:xfrm>
          <a:prstGeom prst="rect">
            <a:avLst/>
          </a:prstGeom>
        </p:spPr>
      </p:pic>
      <p:sp>
        <p:nvSpPr>
          <p:cNvPr id="103" name="Text 98"/>
          <p:cNvSpPr txBox="1"/>
          <p:nvPr/>
        </p:nvSpPr>
        <p:spPr>
          <a:xfrm>
            <a:off x="6135624" y="6300216"/>
            <a:ext cx="393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630" dirty="0"/>
          </a:p>
        </p:txBody>
      </p:sp>
      <p:sp>
        <p:nvSpPr>
          <p:cNvPr id="104" name="Shape 99"/>
          <p:cNvSpPr/>
          <p:nvPr/>
        </p:nvSpPr>
        <p:spPr>
          <a:xfrm>
            <a:off x="6629400" y="6281928"/>
            <a:ext cx="640080" cy="301752"/>
          </a:xfrm>
          <a:prstGeom prst="roundRect">
            <a:avLst>
              <a:gd name="adj" fmla="val 21212"/>
            </a:avLst>
          </a:prstGeom>
          <a:solidFill>
            <a:srgbClr val="0A9EDC"/>
          </a:solidFill>
          <a:ln w="12700">
            <a:solidFill>
              <a:srgbClr val="0A9EDC"/>
            </a:solidFill>
            <a:prstDash val="solid"/>
          </a:ln>
        </p:spPr>
      </p:sp>
      <p:pic>
        <p:nvPicPr>
          <p:cNvPr id="10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2552" y="6341364"/>
            <a:ext cx="164592" cy="164592"/>
          </a:xfrm>
          <a:prstGeom prst="rect">
            <a:avLst/>
          </a:prstGeom>
        </p:spPr>
      </p:pic>
      <p:sp>
        <p:nvSpPr>
          <p:cNvPr id="106" name="Text 100"/>
          <p:cNvSpPr txBox="1"/>
          <p:nvPr/>
        </p:nvSpPr>
        <p:spPr>
          <a:xfrm>
            <a:off x="6912864" y="6300216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630" dirty="0"/>
          </a:p>
        </p:txBody>
      </p:sp>
      <p:sp>
        <p:nvSpPr>
          <p:cNvPr id="107" name="Shape 101"/>
          <p:cNvSpPr/>
          <p:nvPr/>
        </p:nvSpPr>
        <p:spPr>
          <a:xfrm>
            <a:off x="5852160" y="6638544"/>
            <a:ext cx="722376" cy="301752"/>
          </a:xfrm>
          <a:prstGeom prst="roundRect">
            <a:avLst>
              <a:gd name="adj" fmla="val 21212"/>
            </a:avLst>
          </a:prstGeom>
          <a:solidFill>
            <a:srgbClr val="2EAD33"/>
          </a:solidFill>
          <a:ln w="12700">
            <a:solidFill>
              <a:srgbClr val="2EAD33"/>
            </a:solidFill>
            <a:prstDash val="solid"/>
          </a:ln>
        </p:spPr>
      </p:sp>
      <p:pic>
        <p:nvPicPr>
          <p:cNvPr id="108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25312" y="6697980"/>
            <a:ext cx="164592" cy="164592"/>
          </a:xfrm>
          <a:prstGeom prst="rect">
            <a:avLst/>
          </a:prstGeom>
        </p:spPr>
      </p:pic>
      <p:sp>
        <p:nvSpPr>
          <p:cNvPr id="109" name="Text 102"/>
          <p:cNvSpPr txBox="1"/>
          <p:nvPr/>
        </p:nvSpPr>
        <p:spPr>
          <a:xfrm>
            <a:off x="6135624" y="6656832"/>
            <a:ext cx="393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630" dirty="0"/>
          </a:p>
        </p:txBody>
      </p:sp>
      <p:sp>
        <p:nvSpPr>
          <p:cNvPr id="110" name="Shape 103"/>
          <p:cNvSpPr/>
          <p:nvPr/>
        </p:nvSpPr>
        <p:spPr>
          <a:xfrm>
            <a:off x="6629400" y="6638544"/>
            <a:ext cx="640080" cy="301752"/>
          </a:xfrm>
          <a:prstGeom prst="roundRect">
            <a:avLst>
              <a:gd name="adj" fmla="val 2121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1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02552" y="6697980"/>
            <a:ext cx="164592" cy="164592"/>
          </a:xfrm>
          <a:prstGeom prst="rect">
            <a:avLst/>
          </a:prstGeom>
        </p:spPr>
      </p:pic>
      <p:sp>
        <p:nvSpPr>
          <p:cNvPr id="112" name="Text 104"/>
          <p:cNvSpPr txBox="1"/>
          <p:nvPr/>
        </p:nvSpPr>
        <p:spPr>
          <a:xfrm>
            <a:off x="6912864" y="6656832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</a:t>
            </a:r>
            <a:endParaRPr lang="en-US" sz="630" dirty="0"/>
          </a:p>
        </p:txBody>
      </p:sp>
      <p:sp>
        <p:nvSpPr>
          <p:cNvPr id="113" name="Shape 105"/>
          <p:cNvSpPr/>
          <p:nvPr/>
        </p:nvSpPr>
        <p:spPr>
          <a:xfrm>
            <a:off x="329184" y="7132320"/>
            <a:ext cx="45720" cy="182880"/>
          </a:xfrm>
          <a:prstGeom prst="rect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114" name="Text 106"/>
          <p:cNvSpPr txBox="1"/>
          <p:nvPr/>
        </p:nvSpPr>
        <p:spPr>
          <a:xfrm>
            <a:off x="420624" y="711403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0C1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115" name="Shape 107"/>
          <p:cNvSpPr/>
          <p:nvPr/>
        </p:nvSpPr>
        <p:spPr>
          <a:xfrm>
            <a:off x="320040" y="7388352"/>
            <a:ext cx="2286000" cy="1673352"/>
          </a:xfrm>
          <a:prstGeom prst="roundRect">
            <a:avLst>
              <a:gd name="adj" fmla="val 4372"/>
            </a:avLst>
          </a:prstGeom>
          <a:solidFill>
            <a:srgbClr val="EEF2FF"/>
          </a:solidFill>
          <a:ln w="8890">
            <a:solidFill>
              <a:srgbClr val="EEF2FF"/>
            </a:solidFill>
            <a:prstDash val="solid"/>
          </a:ln>
        </p:spPr>
      </p:sp>
      <p:sp>
        <p:nvSpPr>
          <p:cNvPr id="116" name="Shape 108"/>
          <p:cNvSpPr/>
          <p:nvPr/>
        </p:nvSpPr>
        <p:spPr>
          <a:xfrm>
            <a:off x="320040" y="7388352"/>
            <a:ext cx="2286000" cy="292608"/>
          </a:xfrm>
          <a:prstGeom prst="rect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117" name="Text 109"/>
          <p:cNvSpPr txBox="1"/>
          <p:nvPr/>
        </p:nvSpPr>
        <p:spPr>
          <a:xfrm>
            <a:off x="411480" y="74157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 ·  Project 1a</a:t>
            </a:r>
            <a:endParaRPr lang="en-US" sz="900" dirty="0"/>
          </a:p>
        </p:txBody>
      </p:sp>
      <p:sp>
        <p:nvSpPr>
          <p:cNvPr id="118" name="Shape 110"/>
          <p:cNvSpPr/>
          <p:nvPr/>
        </p:nvSpPr>
        <p:spPr>
          <a:xfrm>
            <a:off x="457200" y="7840980"/>
            <a:ext cx="64008" cy="64008"/>
          </a:xfrm>
          <a:prstGeom prst="ellipse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119" name="Text 111"/>
          <p:cNvSpPr txBox="1"/>
          <p:nvPr/>
        </p:nvSpPr>
        <p:spPr>
          <a:xfrm>
            <a:off x="576072" y="7790688"/>
            <a:ext cx="19202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Reverse-engineered MealSlot into 20 use cases</a:t>
            </a:r>
            <a:endParaRPr lang="en-US" sz="900" dirty="0"/>
          </a:p>
        </p:txBody>
      </p:sp>
      <p:sp>
        <p:nvSpPr>
          <p:cNvPr id="120" name="Shape 112"/>
          <p:cNvSpPr/>
          <p:nvPr/>
        </p:nvSpPr>
        <p:spPr>
          <a:xfrm>
            <a:off x="457200" y="8135874"/>
            <a:ext cx="64008" cy="64008"/>
          </a:xfrm>
          <a:prstGeom prst="ellipse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121" name="Text 113"/>
          <p:cNvSpPr txBox="1"/>
          <p:nvPr/>
        </p:nvSpPr>
        <p:spPr>
          <a:xfrm>
            <a:off x="576072" y="8085582"/>
            <a:ext cx="19202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 tests across 5 suites, all traced</a:t>
            </a:r>
            <a:endParaRPr lang="en-US" sz="900" dirty="0"/>
          </a:p>
        </p:txBody>
      </p:sp>
      <p:sp>
        <p:nvSpPr>
          <p:cNvPr id="122" name="Shape 114"/>
          <p:cNvSpPr/>
          <p:nvPr/>
        </p:nvSpPr>
        <p:spPr>
          <a:xfrm>
            <a:off x="457200" y="8430768"/>
            <a:ext cx="64008" cy="64008"/>
          </a:xfrm>
          <a:prstGeom prst="ellipse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123" name="Text 115"/>
          <p:cNvSpPr txBox="1"/>
          <p:nvPr/>
        </p:nvSpPr>
        <p:spPr>
          <a:xfrm>
            <a:off x="576072" y="8380476"/>
            <a:ext cx="19202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defects exposed that shipped tests missed</a:t>
            </a:r>
            <a:endParaRPr lang="en-US" sz="900" dirty="0"/>
          </a:p>
        </p:txBody>
      </p:sp>
      <p:sp>
        <p:nvSpPr>
          <p:cNvPr id="124" name="Shape 116"/>
          <p:cNvSpPr/>
          <p:nvPr/>
        </p:nvSpPr>
        <p:spPr>
          <a:xfrm>
            <a:off x="457200" y="8725662"/>
            <a:ext cx="64008" cy="64008"/>
          </a:xfrm>
          <a:prstGeom prst="ellipse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</p:sp>
      <p:sp>
        <p:nvSpPr>
          <p:cNvPr id="125" name="Text 117"/>
          <p:cNvSpPr txBox="1"/>
          <p:nvPr/>
        </p:nvSpPr>
        <p:spPr>
          <a:xfrm>
            <a:off x="576072" y="8675370"/>
            <a:ext cx="19202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MealSlot CI history becomes first replay dataset</a:t>
            </a:r>
            <a:endParaRPr lang="en-US" sz="900" dirty="0"/>
          </a:p>
        </p:txBody>
      </p:sp>
      <p:sp>
        <p:nvSpPr>
          <p:cNvPr id="126" name="Shape 118"/>
          <p:cNvSpPr/>
          <p:nvPr/>
        </p:nvSpPr>
        <p:spPr>
          <a:xfrm>
            <a:off x="2743200" y="7388352"/>
            <a:ext cx="2286000" cy="1673352"/>
          </a:xfrm>
          <a:prstGeom prst="roundRect">
            <a:avLst>
              <a:gd name="adj" fmla="val 4372"/>
            </a:avLst>
          </a:prstGeom>
          <a:solidFill>
            <a:srgbClr val="EAF9F3"/>
          </a:solidFill>
          <a:ln w="8890">
            <a:solidFill>
              <a:srgbClr val="EAF9F3"/>
            </a:solidFill>
            <a:prstDash val="solid"/>
          </a:ln>
        </p:spPr>
      </p:sp>
      <p:sp>
        <p:nvSpPr>
          <p:cNvPr id="127" name="Shape 119"/>
          <p:cNvSpPr/>
          <p:nvPr/>
        </p:nvSpPr>
        <p:spPr>
          <a:xfrm>
            <a:off x="2743200" y="7388352"/>
            <a:ext cx="2286000" cy="29260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28" name="Text 120"/>
          <p:cNvSpPr txBox="1"/>
          <p:nvPr/>
        </p:nvSpPr>
        <p:spPr>
          <a:xfrm>
            <a:off x="2834640" y="74157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 ·  Project 2</a:t>
            </a:r>
            <a:endParaRPr lang="en-US" sz="900" dirty="0"/>
          </a:p>
        </p:txBody>
      </p:sp>
      <p:sp>
        <p:nvSpPr>
          <p:cNvPr id="129" name="Shape 121"/>
          <p:cNvSpPr/>
          <p:nvPr/>
        </p:nvSpPr>
        <p:spPr>
          <a:xfrm>
            <a:off x="2880360" y="7840980"/>
            <a:ext cx="64008" cy="6400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30" name="Text 122"/>
          <p:cNvSpPr txBox="1"/>
          <p:nvPr/>
        </p:nvSpPr>
        <p:spPr>
          <a:xfrm>
            <a:off x="2999232" y="7790688"/>
            <a:ext cx="19202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history ingestion and adapters</a:t>
            </a:r>
            <a:endParaRPr lang="en-US" sz="900" dirty="0"/>
          </a:p>
        </p:txBody>
      </p:sp>
      <p:sp>
        <p:nvSpPr>
          <p:cNvPr id="131" name="Shape 123"/>
          <p:cNvSpPr/>
          <p:nvPr/>
        </p:nvSpPr>
        <p:spPr>
          <a:xfrm>
            <a:off x="2880360" y="8135874"/>
            <a:ext cx="64008" cy="6400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32" name="Text 124"/>
          <p:cNvSpPr txBox="1"/>
          <p:nvPr/>
        </p:nvSpPr>
        <p:spPr>
          <a:xfrm>
            <a:off x="2999232" y="8085582"/>
            <a:ext cx="19202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map + route / co-failure links</a:t>
            </a:r>
            <a:endParaRPr lang="en-US" sz="900" dirty="0"/>
          </a:p>
        </p:txBody>
      </p:sp>
      <p:sp>
        <p:nvSpPr>
          <p:cNvPr id="133" name="Shape 125"/>
          <p:cNvSpPr/>
          <p:nvPr/>
        </p:nvSpPr>
        <p:spPr>
          <a:xfrm>
            <a:off x="2880360" y="8430768"/>
            <a:ext cx="64008" cy="6400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34" name="Text 126"/>
          <p:cNvSpPr txBox="1"/>
          <p:nvPr/>
        </p:nvSpPr>
        <p:spPr>
          <a:xfrm>
            <a:off x="2999232" y="8380476"/>
            <a:ext cx="19202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check + reviewer override</a:t>
            </a:r>
            <a:endParaRPr lang="en-US" sz="900" dirty="0"/>
          </a:p>
        </p:txBody>
      </p:sp>
      <p:sp>
        <p:nvSpPr>
          <p:cNvPr id="135" name="Shape 127"/>
          <p:cNvSpPr/>
          <p:nvPr/>
        </p:nvSpPr>
        <p:spPr>
          <a:xfrm>
            <a:off x="2880360" y="8725662"/>
            <a:ext cx="64008" cy="6400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36" name="Text 128"/>
          <p:cNvSpPr txBox="1"/>
          <p:nvPr/>
        </p:nvSpPr>
        <p:spPr>
          <a:xfrm>
            <a:off x="2999232" y="8675370"/>
            <a:ext cx="19202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 budgets + static dashboard</a:t>
            </a:r>
            <a:endParaRPr lang="en-US" sz="900" dirty="0"/>
          </a:p>
        </p:txBody>
      </p:sp>
      <p:sp>
        <p:nvSpPr>
          <p:cNvPr id="137" name="Shape 129"/>
          <p:cNvSpPr/>
          <p:nvPr/>
        </p:nvSpPr>
        <p:spPr>
          <a:xfrm>
            <a:off x="5166360" y="7388352"/>
            <a:ext cx="2286000" cy="1673352"/>
          </a:xfrm>
          <a:prstGeom prst="roundRect">
            <a:avLst>
              <a:gd name="adj" fmla="val 4372"/>
            </a:avLst>
          </a:prstGeom>
          <a:solidFill>
            <a:srgbClr val="FFF4E7"/>
          </a:solidFill>
          <a:ln w="8890">
            <a:solidFill>
              <a:srgbClr val="FFF4E7"/>
            </a:solidFill>
            <a:prstDash val="solid"/>
          </a:ln>
        </p:spPr>
      </p:sp>
      <p:sp>
        <p:nvSpPr>
          <p:cNvPr id="138" name="Shape 130"/>
          <p:cNvSpPr/>
          <p:nvPr/>
        </p:nvSpPr>
        <p:spPr>
          <a:xfrm>
            <a:off x="5166360" y="7388352"/>
            <a:ext cx="2286000" cy="2926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39" name="Text 131"/>
          <p:cNvSpPr txBox="1"/>
          <p:nvPr/>
        </p:nvSpPr>
        <p:spPr>
          <a:xfrm>
            <a:off x="5257800" y="74157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 ·  Project 3</a:t>
            </a:r>
            <a:endParaRPr lang="en-US" sz="900" dirty="0"/>
          </a:p>
        </p:txBody>
      </p:sp>
      <p:sp>
        <p:nvSpPr>
          <p:cNvPr id="140" name="Shape 132"/>
          <p:cNvSpPr/>
          <p:nvPr/>
        </p:nvSpPr>
        <p:spPr>
          <a:xfrm>
            <a:off x="5303520" y="7840980"/>
            <a:ext cx="64008" cy="640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1" name="Text 133"/>
          <p:cNvSpPr txBox="1"/>
          <p:nvPr/>
        </p:nvSpPr>
        <p:spPr>
          <a:xfrm>
            <a:off x="5422392" y="7790688"/>
            <a:ext cx="19202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Fork pull-request support</a:t>
            </a:r>
            <a:endParaRPr lang="en-US" sz="900" dirty="0"/>
          </a:p>
        </p:txBody>
      </p:sp>
      <p:sp>
        <p:nvSpPr>
          <p:cNvPr id="142" name="Shape 134"/>
          <p:cNvSpPr/>
          <p:nvPr/>
        </p:nvSpPr>
        <p:spPr>
          <a:xfrm>
            <a:off x="5303520" y="8135874"/>
            <a:ext cx="64008" cy="640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3" name="Text 135"/>
          <p:cNvSpPr txBox="1"/>
          <p:nvPr/>
        </p:nvSpPr>
        <p:spPr>
          <a:xfrm>
            <a:off x="5422392" y="8085582"/>
            <a:ext cx="19202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drift correction after nightly misses</a:t>
            </a:r>
            <a:endParaRPr lang="en-US" sz="900" dirty="0"/>
          </a:p>
        </p:txBody>
      </p:sp>
      <p:sp>
        <p:nvSpPr>
          <p:cNvPr id="144" name="Shape 136"/>
          <p:cNvSpPr/>
          <p:nvPr/>
        </p:nvSpPr>
        <p:spPr>
          <a:xfrm>
            <a:off x="5303520" y="8430768"/>
            <a:ext cx="64008" cy="640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5" name="Text 137"/>
          <p:cNvSpPr txBox="1"/>
          <p:nvPr/>
        </p:nvSpPr>
        <p:spPr>
          <a:xfrm>
            <a:off x="5422392" y="8380476"/>
            <a:ext cx="19202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expansion for more test frameworks</a:t>
            </a:r>
            <a:endParaRPr lang="en-US" sz="900" dirty="0"/>
          </a:p>
        </p:txBody>
      </p:sp>
      <p:sp>
        <p:nvSpPr>
          <p:cNvPr id="146" name="Shape 138"/>
          <p:cNvSpPr/>
          <p:nvPr/>
        </p:nvSpPr>
        <p:spPr>
          <a:xfrm>
            <a:off x="5303520" y="8725662"/>
            <a:ext cx="64008" cy="6400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7" name="Text 139"/>
          <p:cNvSpPr txBox="1"/>
          <p:nvPr/>
        </p:nvSpPr>
        <p:spPr>
          <a:xfrm>
            <a:off x="5422392" y="8675370"/>
            <a:ext cx="192024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Uncovered-risk + test-retirement reporting</a:t>
            </a:r>
            <a:endParaRPr lang="en-US" sz="900" dirty="0"/>
          </a:p>
        </p:txBody>
      </p:sp>
      <p:sp>
        <p:nvSpPr>
          <p:cNvPr id="148" name="Shape 140"/>
          <p:cNvSpPr/>
          <p:nvPr/>
        </p:nvSpPr>
        <p:spPr>
          <a:xfrm>
            <a:off x="0" y="9217152"/>
            <a:ext cx="7772400" cy="841248"/>
          </a:xfrm>
          <a:prstGeom prst="rect">
            <a:avLst/>
          </a:prstGeom>
          <a:solidFill>
            <a:srgbClr val="0C1633"/>
          </a:solidFill>
          <a:ln w="12700">
            <a:solidFill>
              <a:srgbClr val="0C1633"/>
            </a:solidFill>
            <a:prstDash val="solid"/>
          </a:ln>
        </p:spPr>
      </p:sp>
      <p:pic>
        <p:nvPicPr>
          <p:cNvPr id="149" name="Image 6" descr="/mnt/data/1fe62301-d547-4437-b804-bdff573e369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9184" y="9308592"/>
            <a:ext cx="566928" cy="566928"/>
          </a:xfrm>
          <a:prstGeom prst="rect">
            <a:avLst/>
          </a:prstGeom>
        </p:spPr>
      </p:pic>
      <p:sp>
        <p:nvSpPr>
          <p:cNvPr id="150" name="Shape 141"/>
          <p:cNvSpPr/>
          <p:nvPr/>
        </p:nvSpPr>
        <p:spPr>
          <a:xfrm>
            <a:off x="1033272" y="9326880"/>
            <a:ext cx="0" cy="530352"/>
          </a:xfrm>
          <a:prstGeom prst="line">
            <a:avLst/>
          </a:prstGeom>
          <a:noFill/>
          <a:ln w="12700">
            <a:solidFill>
              <a:srgbClr val="8393B7"/>
            </a:solidFill>
            <a:prstDash val="solid"/>
          </a:ln>
        </p:spPr>
      </p:sp>
      <p:sp>
        <p:nvSpPr>
          <p:cNvPr id="151" name="Text 142"/>
          <p:cNvSpPr txBox="1"/>
          <p:nvPr/>
        </p:nvSpPr>
        <p:spPr>
          <a:xfrm>
            <a:off x="1197864" y="9308592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</a:t>
            </a:r>
            <a:endParaRPr lang="en-US" sz="800" dirty="0"/>
          </a:p>
        </p:txBody>
      </p:sp>
      <p:sp>
        <p:nvSpPr>
          <p:cNvPr id="152" name="Text 143">
            <a:hlinkClick r:id="rId16"/>
          </p:cNvPr>
          <p:cNvSpPr/>
          <p:nvPr/>
        </p:nvSpPr>
        <p:spPr>
          <a:xfrm>
            <a:off x="1197864" y="950061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20" u="sng" dirty="0">
                <a:solidFill>
                  <a:srgbClr val="8EE7F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github.com/ssbajjur-ncstate/SE-CSC-510-Group-9.git</a:t>
            </a:r>
            <a:endParaRPr lang="en-US" sz="520" dirty="0"/>
          </a:p>
        </p:txBody>
      </p:sp>
      <p:sp>
        <p:nvSpPr>
          <p:cNvPr id="154" name="Shape 145"/>
          <p:cNvSpPr/>
          <p:nvPr/>
        </p:nvSpPr>
        <p:spPr>
          <a:xfrm>
            <a:off x="3886200" y="9308592"/>
            <a:ext cx="0" cy="576072"/>
          </a:xfrm>
          <a:prstGeom prst="line">
            <a:avLst/>
          </a:prstGeom>
          <a:noFill/>
          <a:ln w="13970">
            <a:solidFill>
              <a:srgbClr val="3C4C71"/>
            </a:solidFill>
            <a:prstDash val="solid"/>
          </a:ln>
        </p:spPr>
      </p:sp>
      <p:pic>
        <p:nvPicPr>
          <p:cNvPr id="155" name="Image 7" descr="/mnt/data/1def4233-e345-495f-855a-2f4cbebf9b3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69664" y="9308592"/>
            <a:ext cx="566928" cy="566928"/>
          </a:xfrm>
          <a:prstGeom prst="rect">
            <a:avLst/>
          </a:prstGeom>
        </p:spPr>
      </p:pic>
      <p:sp>
        <p:nvSpPr>
          <p:cNvPr id="156" name="Shape 146"/>
          <p:cNvSpPr/>
          <p:nvPr/>
        </p:nvSpPr>
        <p:spPr>
          <a:xfrm>
            <a:off x="4882896" y="9326880"/>
            <a:ext cx="0" cy="530352"/>
          </a:xfrm>
          <a:prstGeom prst="line">
            <a:avLst/>
          </a:prstGeom>
          <a:noFill/>
          <a:ln w="12700">
            <a:solidFill>
              <a:srgbClr val="8393B7"/>
            </a:solidFill>
            <a:prstDash val="solid"/>
          </a:ln>
        </p:spPr>
      </p:sp>
      <p:sp>
        <p:nvSpPr>
          <p:cNvPr id="157" name="Text 147"/>
          <p:cNvSpPr txBox="1"/>
          <p:nvPr/>
        </p:nvSpPr>
        <p:spPr>
          <a:xfrm>
            <a:off x="5038344" y="9308592"/>
            <a:ext cx="12435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FORUM</a:t>
            </a:r>
            <a:endParaRPr lang="en-US" sz="800" dirty="0"/>
          </a:p>
        </p:txBody>
      </p:sp>
      <p:sp>
        <p:nvSpPr>
          <p:cNvPr id="158" name="Text 148">
            <a:hlinkClick r:id="rId18"/>
          </p:cNvPr>
          <p:cNvSpPr/>
          <p:nvPr/>
        </p:nvSpPr>
        <p:spPr>
          <a:xfrm>
            <a:off x="5038344" y="950061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u="sng" dirty="0">
                <a:solidFill>
                  <a:srgbClr val="8EE7F3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discord.gg/X47fDBE6x</a:t>
            </a:r>
            <a:endParaRPr lang="en-US" sz="570" dirty="0"/>
          </a:p>
        </p:txBody>
      </p:sp>
      <p:sp>
        <p:nvSpPr>
          <p:cNvPr id="159" name="Text 149"/>
          <p:cNvSpPr txBox="1"/>
          <p:nvPr/>
        </p:nvSpPr>
        <p:spPr>
          <a:xfrm>
            <a:off x="6556248" y="9820656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430" dirty="0">
                <a:solidFill>
                  <a:srgbClr val="93A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 510 • NC State • Fall 2026</a:t>
            </a:r>
            <a:endParaRPr lang="en-US" sz="4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381</Words>
  <Application>Microsoft Office PowerPoint</Application>
  <PresentationFormat>Custom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TestBudget — Every PR earns its test budget</dc:title>
  <dc:subject>CSC 510 Project 1b Poster - TestBudget</dc:subject>
  <dc:creator>OpenAI</dc:creator>
  <cp:lastModifiedBy>Namrata Joshi</cp:lastModifiedBy>
  <cp:revision>2</cp:revision>
  <dcterms:created xsi:type="dcterms:W3CDTF">2026-09-16T23:34:34Z</dcterms:created>
  <dcterms:modified xsi:type="dcterms:W3CDTF">2026-09-17T00:14:22Z</dcterms:modified>
</cp:coreProperties>
</file>